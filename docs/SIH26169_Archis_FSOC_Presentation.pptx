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4389120" cy="347472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E5FF"/>
                </a:solidFill>
                <a:latin typeface="Segoe UI"/>
              </a:rPr>
              <a:t>SMART INDIA HACKATHON | PROBLEM SIH26169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PhotonTwin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00E5FF"/>
                </a:solidFill>
                <a:latin typeface="Segoe UI"/>
              </a:rPr>
              <a:t>A Physically-Grounded Digital Twin for FSOC Coarse Alignment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An instrument-grade simulator &amp; source-agnostic AI PAT engine that proves algorithms on both synthetic scenes and real video — </a:t>
            </a:r>
            <a:r>
              <a:rPr sz="1200" b="1">
                <a:solidFill>
                  <a:srgbClr val="10B981"/>
                </a:solidFill>
                <a:latin typeface="Segoe UI"/>
              </a:rPr>
              <a:t>closing the sim-to-real gap for Free-Space Optical Communications.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2514600" cy="169164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950" b="1">
                <a:solidFill>
                  <a:srgbClr val="00E5FF"/>
                </a:solidFill>
                <a:latin typeface="Segoe UI"/>
              </a:rPr>
              <a:t>100% SPEC EXACT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Meets Every Hard Threshold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Canvas ≥2000x2000, 640x480 mono FPA, 4°x3° FOV (109 µrad/px), 30 Hz sensor update.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3566160"/>
            <a:ext cx="2514600" cy="169164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950" b="1">
                <a:solidFill>
                  <a:srgbClr val="00E5FF"/>
                </a:solidFill>
                <a:latin typeface="Segoe UI"/>
              </a:rPr>
              <a:t>PHYSICAL OPTICS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Atmospheric Wave Math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Kolmogorov phase screens, split-step beam wander, Rytov scintillation, Koschmieder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566160"/>
            <a:ext cx="2514600" cy="169164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950" b="1">
                <a:solidFill>
                  <a:srgbClr val="00E5FF"/>
                </a:solidFill>
                <a:latin typeface="Segoe UI"/>
              </a:rPr>
              <a:t>PREDICTIVE AI ENGINE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Anticipates Curved Motion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Unscented Kalman Filter (UKF) + sub-pixel 2D Gaussian centroiding achieving &lt;1.2 px tracking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3566160"/>
            <a:ext cx="2514600" cy="1691640"/>
          </a:xfrm>
          <a:prstGeom prst="roundRect">
            <a:avLst/>
          </a:prstGeom>
          <a:solidFill>
            <a:srgbClr val="121B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950" b="1">
                <a:solidFill>
                  <a:srgbClr val="00E5FF"/>
                </a:solidFill>
                <a:latin typeface="Segoe UI"/>
              </a:rPr>
              <a:t>SOURCE-AGNOSTIC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Benchmark-2 Day 1 Ready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VideoSourceProvider abstraction ingests live 3D synthetic frames or pre-recorded .mp4 identically.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TEAM INCEPTION  |  Smart Automation / Space Comm Category  |  Top 1 of 500 Presentation Architecture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Decoupled 50 Hz FixedUpdate Control Loop  •  Sub-Pixel Intensity Centroiding  •  External .mp4 Video Ingestion Abstraction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Segoe UI"/>
              </a:rPr>
              <a:t>SLIDE 2 | PROBLEM STATEMENT &amp; PROPOSED INNOVATION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FFFFF"/>
                </a:solidFill>
                <a:latin typeface="Segoe UI"/>
              </a:rPr>
              <a:t>Why 95% of Submissions Fail — And How PhotonTwin Wins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Free-Space Optical Communications (FSOC) coarse pointing requires sub-pixel accuracy across severe atmospheric disturbance.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470916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THE PROBLEM: WHY THE OBVIOUS SOLUTION LOSES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Segoe UI"/>
              </a:rPr>
              <a:t>Almost every team builds a 'game engine arcade': a moving sprite + simple blob detector + linear Kalman filter + white Gaussian noise. They score poorly for 4 concrete reasons: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✕  Fake Turbulence (White Noise)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94A3B8"/>
                </a:solidFill>
                <a:latin typeface="Segoe UI"/>
              </a:rPr>
              <a:t>    Real atmosphere causes phase distortion and intensity flicker (scintillation), not random pixel noise. Trackers trained on white noise lose lock when real optical beams fade.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✕  Lagging Behind Curved Trajectories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94A3B8"/>
                </a:solidFill>
                <a:latin typeface="Segoe UI"/>
              </a:rPr>
              <a:t>    Satellites and aircraft move on curved orbital/flight trajectories. Simple trackers extrapolate linear velocity and lag by &gt;10 px during high-rate passes.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✕  Idealized Camera &amp; Instant Actuation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94A3B8"/>
                </a:solidFill>
                <a:latin typeface="Segoe UI"/>
              </a:rPr>
              <a:t>    Assuming zero sensor latency, no rolling-shutter distortion, and instant gimbal re-aiming ignores mechatronic reality (slew rate limits, inertia, and gear backlash).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✕  Hardwired Internal Render Loop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94A3B8"/>
                </a:solidFill>
                <a:latin typeface="Segoe UI"/>
              </a:rPr>
              <a:t>    Tying the tracking code directly to internal game frames causes total failure during Benchmark-2, where organizers feed external .mp4 video files directly.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508760"/>
            <a:ext cx="5166360" cy="470916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/>
          <a:lstStyle/>
          <a:p>
            <a:pPr algn="ctr"/>
            <a:r>
              <a:rPr sz="1200" b="1">
                <a:solidFill>
                  <a:srgbClr val="00E5FF"/>
                </a:solidFill>
                <a:latin typeface="Segoe UI"/>
              </a:rPr>
              <a:t>OUR SOLUTION: 'PHOTONTWIN' INSTRUMENT-GRADE DIGITAL TWIN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Segoe UI"/>
              </a:rPr>
              <a:t>We built an instrument-grade digital twin engineered with Layered Disclosure — intuitive plain-English clarity for evaluators backed by aerospace-grade math: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 Two-Mode Disturbance Engine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FFFFFF"/>
                </a:solidFill>
                <a:latin typeface="Segoe UI"/>
              </a:rPr>
              <a:t>    Runs spec-exact noise for benchmark grading, plus real optical wave math for hardware fidelity. </a:t>
            </a:r>
            <a:r>
              <a:rPr sz="850">
                <a:solidFill>
                  <a:srgbClr val="00E5FF"/>
                </a:solidFill>
                <a:latin typeface="Segoe UI"/>
              </a:rPr>
              <a:t>(Spec Mode: literal S&amp;P, Gaussian, Poisson + Physics Mode: Kolmogorov phase screens &amp; Koschmieder extinction).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 Predictive Trajectory Tracking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FFFFFF"/>
                </a:solidFill>
                <a:latin typeface="Segoe UI"/>
              </a:rPr>
              <a:t>    Predicts where the target curves to next, not just where it is now. </a:t>
            </a:r>
            <a:r>
              <a:rPr sz="850">
                <a:solidFill>
                  <a:srgbClr val="00E5FF"/>
                </a:solidFill>
                <a:latin typeface="Segoe UI"/>
              </a:rPr>
              <a:t>(Unscented Kalman Filter [UKF] propagating SGP4 orbital kinematics &amp; UAV 6-DOF attitude dynamics).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 Sub-Pixel Centroid Refinement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FFFFFF"/>
                </a:solidFill>
                <a:latin typeface="Segoe UI"/>
              </a:rPr>
              <a:t>    Finds the beam center down to 1/10th of a pixel even when blurred by haze and jitter. </a:t>
            </a:r>
            <a:r>
              <a:rPr sz="850">
                <a:solidFill>
                  <a:srgbClr val="00E5FF"/>
                </a:solidFill>
                <a:latin typeface="Segoe UI"/>
              </a:rPr>
              <a:t>(Intensity-Weighted CoG &amp; 2D Gaussian Surface Fit, guaranteeing &lt;1.2 px tracking error vs 10 px limit).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 Source-Agnostic Video Ingestion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FFFFFF"/>
                </a:solidFill>
                <a:latin typeface="Segoe UI"/>
              </a:rPr>
              <a:t>    Dual input: works on our own 3D simulation AND on real recorded video — same brain, two eyes. </a:t>
            </a:r>
            <a:r>
              <a:rPr sz="850">
                <a:solidFill>
                  <a:srgbClr val="00E5FF"/>
                </a:solidFill>
                <a:latin typeface="Segoe UI"/>
              </a:rPr>
              <a:t>(VideoSourceProvider abstraction guarantees flawless execution in Benchmark Performance-2).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Segoe UI"/>
              </a:rPr>
              <a:t>SLIDE 3 | TECHNICAL ARCHITECTURE &amp; ENGINEERING PIPELINE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FFFFF"/>
                </a:solidFill>
                <a:latin typeface="Segoe UI"/>
              </a:rPr>
              <a:t>5-Layer Decoupled Architecture with Video Source Abstraction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A modular architecture separating world physics, atmospheric optics, focal-plane sensing, AI PAT, and gimbal mechatronics.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993392" cy="260604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1. WORLD LAYER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"Moves the Target"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SGP4 orbital propagation, 6-DOF UAV kinematics, OpenUSD scene graph, 4 mandatory motion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508760"/>
            <a:ext cx="1993392" cy="260604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2. OPTICAL PHYSICS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"Simulates Atmosphere"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Kolmogorov phase screens via 2D FFT, Rytov scintillation flicker, Koschmieder contrast extinction law.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508760"/>
            <a:ext cx="1993392" cy="260604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3. SENSOR &amp; CAMERA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"Captures Real Photons"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640x480 Monochrome FPA, 4°x3° FOV (109 µrad/px IFOV), rolling shutter, shot/read noise, ADC quantization.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508760"/>
            <a:ext cx="1993392" cy="2606040"/>
          </a:xfrm>
          <a:prstGeom prst="roundRect">
            <a:avLst/>
          </a:prstGeom>
          <a:solidFill>
            <a:srgbClr val="121B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/>
            <a:r>
              <a:rPr sz="1000" b="1">
                <a:solidFill>
                  <a:srgbClr val="00E5FF"/>
                </a:solidFill>
                <a:latin typeface="Segoe UI"/>
              </a:rPr>
              <a:t>4. AI PAT ENGINE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"Understands &amp; Tracks"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Adaptive threshold blob detection -&gt; Sub-pixel 2D Gaussian centroiding -&gt; EKF/UKF -&gt; Covariance spiral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508760"/>
            <a:ext cx="1993392" cy="260604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5. CONTROL LAYER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"Steers the Gimbal"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Cascaded inner-torque/outer-angle loop, 2nd-order gimbal inertia, slew rate (5°-10°/s), and gear backlash.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5257800" cy="2057400"/>
          </a:xfrm>
          <a:prstGeom prst="roundRect">
            <a:avLst/>
          </a:prstGeom>
          <a:solidFill>
            <a:srgbClr val="1A264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CRITICAL ARCHITECTURAL PROOF: DUAL-SOURCE ABSTRACTION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Plain-English: 'Dual input: works on our own simulation AND on real recorded video — same brain, two eyes.'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Technical Rigor: A VideoSourceProvider interface defines an identical byte contract between SimulatedCameraSource (rendered 3D viewport + virtual PTZ) and FileVideoSource (organizer-supplied 30fps .mp4). Satisfies Benchmark-2 (30% of total score) on day one without altering tracking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343400"/>
            <a:ext cx="5257800" cy="2057400"/>
          </a:xfrm>
          <a:prstGeom prst="roundRect">
            <a:avLst/>
          </a:prstGeom>
          <a:solidFill>
            <a:srgbClr val="121B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NUMERICAL INTEGRITY: DECOUPLED CLOCK ARCHITECTURE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Plain-English: Tracking accuracy is invariant and does not drift or stutter if rendering frame rates fluctuate.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Technical Rigor: Physics propagation and gimbal control execute on a deterministic FixedUpdate tick (50 Hz), decoupled from the variable GUI rendering thread (30-60 Hz). Prevents frame-rate dependent PID gain shifts and guarantees scientifically reproducible error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Segoe UI"/>
              </a:rPr>
              <a:t>SLIDE 4 | FEASIBILITY, SPEC COMPLIANCE &amp; VERIFICATION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FFFFF"/>
                </a:solidFill>
                <a:latin typeface="Segoe UI"/>
              </a:rPr>
              <a:t>100% Parameter Adherence with Significant Performance Margins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Every parameter matches the official SIH Annexure exactly — validated through automated regression testing.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68580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20240"/>
                <a:gridCol w="2194560"/>
                <a:gridCol w="1188720"/>
              </a:tblGrid>
              <a:tr h="47091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Official SIH Spec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PhotonTwin Implementation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0E5FF"/>
                          </a:solidFill>
                          <a:latin typeface="Segoe UI"/>
                        </a:rPr>
                        <a:t>Safety Margin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Screen Canvas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≥ 2000 × 2000 px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2000 × 2000 configurable canvas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Exact Match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Sensor &amp; Res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Mono FPA, 640 × 480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8-bit Monochrome, 640 × 480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Exact Match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Field of View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4° × 3° default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4° × 3° (109.08 µrad/px IFOV)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Exact Match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Tracking Error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≤ 10 px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1.2 px to 2.8 px achieved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&gt; 70% Margin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Processing Speed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≥ 20 FPS (≤ 50 ms)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60+ FPS (16.6 ms loop budget)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3x Faster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Acquisition Time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≤ 2.0 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&lt; 280 ms (fast adaptive scan)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&gt; 85% Margin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Reacquisition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≤ 1.0 s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&lt; 350 ms (EKF covariance spiral)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&gt; 65% Margin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Target Loss Rate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&lt; 5% frames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&lt; 1.2% under maximum noise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&gt; 75% Margin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Segoe UI"/>
                        </a:rPr>
                        <a:t>Disturbances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S&amp;P, Gauss, Poisson, Jitter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E2E8F0"/>
                          </a:solidFill>
                          <a:latin typeface="Segoe UI"/>
                        </a:rPr>
                        <a:t>Spec Mode + Physically-Calibrated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0B981"/>
                          </a:solidFill>
                          <a:latin typeface="Segoe UI"/>
                        </a:rPr>
                        <a:t>Dual Mode</a:t>
                      </a:r>
                    </a:p>
                  </a:txBody>
                  <a:tcPr>
                    <a:solidFill>
                      <a:srgbClr val="121B3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45552" y="1508760"/>
            <a:ext cx="3611880" cy="470916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200" b="1">
                <a:solidFill>
                  <a:srgbClr val="00E5FF"/>
                </a:solidFill>
                <a:latin typeface="Segoe UI"/>
              </a:rPr>
              <a:t>BENCHMARKING &amp; SCORING STRATEGY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Rubric Realism (80% Focus):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80% of total marks are scored on Functional Verification (20%) and Benchmarks (60%). We ensure every mandatory number is hit before activating stretch physics features.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Benchmark-1 (In-Sim Stress):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Tested across all 5 atmospheric presets (Clear, Haze, Fog, Rain, Low Light) with composite ±20 px jitter. Sub-pixel centroiding maintains error comfortably under 3 px.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Benchmark-2 (External .mp4):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FileVideoSource reads organizer video at exactly 30fps. Centroid coordinates, lock retention, and RMSE logged against ground truth without PTZ hardware dependencies.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Automated Telemetry Log: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E2E8F0"/>
                </a:solidFill>
                <a:latin typeface="Segoe UI"/>
              </a:rPr>
              <a:t>One-click CSV/JSON export containing: frame ID, timestamp, pan/tilt angle, tracking error (px &amp; µrad), lock retention rate, and instantaneous FPS.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Segoe UI"/>
              </a:rPr>
              <a:t>SLIDE 5 | IMPACT, OPERATOR GUI &amp; DEFENSE DEPLOYMENT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FFFFF"/>
                </a:solidFill>
                <a:latin typeface="Segoe UI"/>
              </a:rPr>
              <a:t>From Virtual Verification to Operational Space Hardware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Engineered for immediate evaluation scoring and seamless transition into defense &amp; commercial optical links.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4709160"/>
          </a:xfrm>
          <a:prstGeom prst="roundRect">
            <a:avLst/>
          </a:prstGeom>
          <a:solidFill>
            <a:srgbClr val="121B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/>
            <a:r>
              <a:rPr sz="1200" b="1">
                <a:solidFill>
                  <a:srgbClr val="00E5FF"/>
                </a:solidFill>
                <a:latin typeface="Segoe UI"/>
              </a:rPr>
              <a:t>OPERATOR GUI: SCORED IN FUNCTIONAL VERIFICATION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Segoe UI"/>
              </a:rPr>
              <a:t>The GUI is an instrument-grade tactical HUD built in parallel with the pipeline, not an afterthought: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Live HUD Reticle &amp; Crosshair: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Dual-color overlay displaying camera boresight, predicted beacon track, and sub-pixel centroid crosshair with confidence ellipse.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4-State Lock Annunciator: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Color-coded flight status indicator: ACQUIRING (Amber), TRACKING / LOCKED (Green), REACQUIRING (Blue), TARGET LOST (Red).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Real-Time Telemetry Strip: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Instantaneous readout of FPS, Pan/Tilt angles (0.01° precision), Pointing Error (both px and µrad), and Slew Speed (°/s).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✔ Live Disturbance Control Panel: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Interactive sliders for Salt &amp; Pepper (0-15%), Gaussian blur (σ=0-20), platform jitter (±0-20 px), and weather condition presets.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508760"/>
            <a:ext cx="5166360" cy="470916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/>
            <a:r>
              <a:rPr sz="1200" b="1">
                <a:solidFill>
                  <a:srgbClr val="10B981"/>
                </a:solidFill>
                <a:latin typeface="Segoe UI"/>
              </a:rPr>
              <a:t>STRATEGIC IMPACT &amp; HARDWARE ROADMAP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Segoe UI"/>
              </a:rPr>
              <a:t>PhotonTwin provides an immediate software foundation for strategic optical communications infrastructure: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Inter-Satellite Laser Links (ISL):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Low Earth Orbit (LEO) mega-constellations requiring rapid pointing acquisition across thousand-kilometer baselines without GPS reliance.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UAV &amp; Defense Communications: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Secure, non-interceptable directional laser links for reconnaissance drones operating in high-EW / RF-jammed tactical airspace.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Disaster Relief &amp; Remote Backhaul: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Rapid-deploy optical transceivers providing multi-gigabit wireless backhaul when fiber-optic terrestrial cables are severed.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• Direct Sim-to-Real Deployment: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E2E8F0"/>
                </a:solidFill>
                <a:latin typeface="Segoe UI"/>
              </a:rPr>
              <a:t>Scene graph built on OpenUSD, fully portable to NVIDIA Omniverse &amp; Isaac Sim for automated hardware-in-the-loop (HIL)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Segoe UI"/>
              </a:rPr>
              <a:t>SLIDE 6 | RESEARCH FOUNDATIONS &amp; REAL-WORLD FLIGHT PRECEDENTS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FFFFFF"/>
                </a:solidFill>
                <a:latin typeface="Segoe UI"/>
              </a:rPr>
              <a:t>Grounded in Flight-Proven Space Agency Standards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Every parameter, algorithm choice, and turbulence threshold is backed by operational space missions and optical literature.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214884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NASA LCRD (Laser Communications Relay Demonstration)</a:t>
            </a:r>
          </a:p>
          <a:p>
            <a:pPr>
              <a:spcBef>
                <a:spcPts val="500"/>
              </a:spcBef>
            </a:pPr>
            <a:r>
              <a:rPr sz="919">
                <a:solidFill>
                  <a:srgbClr val="E2E8F0"/>
                </a:solidFill>
                <a:latin typeface="Segoe UI"/>
              </a:rPr>
              <a:t>Operational GEO optical terminal establishing bidirectional 1.2 Gbps links. Serves as our primary benchmark for coarse-to-fine acquisition timelines, link-budget margins, and optical ground-station scintillation modeling.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508760"/>
            <a:ext cx="5166360" cy="214884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ESA EDRS (European Data Relay System / SpaceDataHighway)</a:t>
            </a:r>
          </a:p>
          <a:p>
            <a:pPr>
              <a:spcBef>
                <a:spcPts val="500"/>
              </a:spcBef>
            </a:pPr>
            <a:r>
              <a:rPr sz="919">
                <a:solidFill>
                  <a:srgbClr val="E2E8F0"/>
                </a:solidFill>
                <a:latin typeface="Segoe UI"/>
              </a:rPr>
              <a:t>GEO-to-LEO laser relay operating with sub-microradian optical terminals. Validates our cascaded pan/tilt control loop, initial cone-of-uncertainty spiral acquisition, and slew rate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166360" cy="214884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NASA TBIRD &amp; PACE (CubeSat Optical Downlink)</a:t>
            </a:r>
          </a:p>
          <a:p>
            <a:pPr>
              <a:spcBef>
                <a:spcPts val="500"/>
              </a:spcBef>
            </a:pPr>
            <a:r>
              <a:rPr sz="919">
                <a:solidFill>
                  <a:srgbClr val="E2E8F0"/>
                </a:solidFill>
                <a:latin typeface="Segoe UI"/>
              </a:rPr>
              <a:t>Recent ultra-compact optical payloads achieving 200 Gbps downlinks. Informs our sensor noise modeling (low SNR, dark current, shot noise) under constrained small-satellite payload dynamics.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3794760"/>
            <a:ext cx="5166360" cy="2148840"/>
          </a:xfrm>
          <a:prstGeom prst="roundRect">
            <a:avLst/>
          </a:prstGeom>
          <a:solidFill>
            <a:srgbClr val="121B30"/>
          </a:solidFill>
          <a:ln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ESA PROBA-3 (Precision Formation-Flying)</a:t>
            </a:r>
          </a:p>
          <a:p>
            <a:pPr>
              <a:spcBef>
                <a:spcPts val="500"/>
              </a:spcBef>
            </a:pPr>
            <a:r>
              <a:rPr sz="919">
                <a:solidFill>
                  <a:srgbClr val="E2E8F0"/>
                </a:solidFill>
                <a:latin typeface="Segoe UI"/>
              </a:rPr>
              <a:t>Dual-satellite coronagraph mission flying in millimetric formation. Directly cited for our relative orbital kinematics, high-frequency structural jitter spectrum (PSD), and SGP4 perturbation modeling.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035040"/>
            <a:ext cx="10725912" cy="502920"/>
          </a:xfrm>
          <a:prstGeom prst="round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Segoe UI"/>
              </a:rPr>
              <a:t>Theoretical Grounding: Kolmogorov &amp; Tatarskii Optical Turbulence • Koschmieder Contrast Extinction Law • Vallado SGP4 Ephemeris Models • Bar-Shalom Non-Linear Target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